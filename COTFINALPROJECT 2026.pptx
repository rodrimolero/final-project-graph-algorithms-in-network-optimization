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02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Execution Time (seconds) by Graph Variant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 (20 edges)</c:v>
                </c:pt>
              </c:strCache>
            </c:strRef>
          </c:tx>
          <c:spPr>
            <a:solidFill>
              <a:srgbClr val="1A7A8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BFS</c:v>
                </c:pt>
                <c:pt idx="1">
                  <c:v>DFS</c:v>
                </c:pt>
                <c:pt idx="2">
                  <c:v>Bellman-Ford</c:v>
                </c:pt>
                <c:pt idx="3">
                  <c:v>Prim's MST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1.1999999999999999E-6</c:v>
                </c:pt>
                <c:pt idx="1">
                  <c:v>9.9999999999999995E-7</c:v>
                </c:pt>
                <c:pt idx="2">
                  <c:v>8.4999999999999999E-6</c:v>
                </c:pt>
                <c:pt idx="3">
                  <c:v>1.5E-6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4E-4C10-883A-01D4FA3FB1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Sparse (4 edges)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BFS</c:v>
                </c:pt>
                <c:pt idx="1">
                  <c:v>DFS</c:v>
                </c:pt>
                <c:pt idx="2">
                  <c:v>Bellman-Ford</c:v>
                </c:pt>
                <c:pt idx="3">
                  <c:v>Prim's MST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4.9999999999999998E-7</c:v>
                </c:pt>
                <c:pt idx="1">
                  <c:v>3.9999999999999998E-7</c:v>
                </c:pt>
                <c:pt idx="2">
                  <c:v>6.9999999999999999E-6</c:v>
                </c:pt>
                <c:pt idx="3">
                  <c:v>7.9999999999999996E-7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4E-4C10-883A-01D4FA3FB1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Large Sparse (8 edges)</c:v>
                </c:pt>
              </c:strCache>
            </c:strRef>
          </c:tx>
          <c:spPr>
            <a:solidFill>
              <a:srgbClr val="545E7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BFS</c:v>
                </c:pt>
                <c:pt idx="1">
                  <c:v>DFS</c:v>
                </c:pt>
                <c:pt idx="2">
                  <c:v>Bellman-Ford</c:v>
                </c:pt>
                <c:pt idx="3">
                  <c:v>Prim's MST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6.9999999999999997E-7</c:v>
                </c:pt>
                <c:pt idx="1">
                  <c:v>5.9999999999999997E-7</c:v>
                </c:pt>
                <c:pt idx="2">
                  <c:v>7.5000000000000002E-6</c:v>
                </c:pt>
                <c:pt idx="3">
                  <c:v>9.9999999999999995E-7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4E-4C10-883A-01D4FA3FB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815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A7A8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F4A261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64592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Algorithms in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 Network Optimization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39547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Algorithms — Final Project</a:t>
            </a:r>
          </a:p>
          <a:p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r>
              <a:rPr lang="en-US" i="1" dirty="0">
                <a:solidFill>
                  <a:schemeClr val="accent2"/>
                </a:solidFill>
              </a:rPr>
              <a:t> </a:t>
            </a:r>
            <a:r>
              <a:rPr lang="en-US" sz="1600" i="1" dirty="0">
                <a:solidFill>
                  <a:schemeClr val="accent2"/>
                </a:solidFill>
              </a:rPr>
              <a:t>Rodrigo Molero, Thomas Gabriel, and David Fletcher</a:t>
            </a:r>
            <a:endParaRPr lang="en-US" i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Formulation &amp; Graph Modeling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7A8A"/>
                </a:solidFill>
                <a:latin typeface="Calibri" panose="020F0502020204030204" pitchFamily="34" charset="0"/>
                <a:ea typeface="Georgia" pitchFamily="34" charset="-122"/>
                <a:cs typeface="Calibri" panose="020F0502020204030204" pitchFamily="34" charset="0"/>
              </a:rPr>
              <a:t>Real-World Problem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679093"/>
            <a:ext cx="38404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 city bus transit network to find the fastest routes, minimum spanning connections, and efficient traversal orders between 16 bus stops.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18352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85551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764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" y="3010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bus stops (Downtown, University, Airport, Mall, Hospital, etc.)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48640" y="3449872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58703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495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43000" y="3742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routes between stops weighted by travel time (minutes)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" y="4181392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318552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4227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Type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143000" y="4474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Undirected, Weighted — bidirectional bus routes with travel times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980966" y="12990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Network Graph (16 Vertices, 20 Edges)</a:t>
            </a:r>
            <a:endParaRPr lang="en-US" sz="1400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D84DC554-5314-E9F9-DDD0-16B8A61B0C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1691640"/>
            <a:ext cx="3835452" cy="30672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Construction &amp; Dataset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Network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vertices  |  20 edges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3317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bus network with all routes and travel times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2801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37560" y="1280160"/>
            <a:ext cx="265176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7472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Sparse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7472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vertices  |  4 edges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74720" y="23317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connections for baseline comparison testing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12801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217920" y="1280160"/>
            <a:ext cx="2651760" cy="548640"/>
          </a:xfrm>
          <a:prstGeom prst="rect">
            <a:avLst/>
          </a:prstGeom>
          <a:solidFill>
            <a:srgbClr val="545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35508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Sparse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5508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vertices  |  8 edges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55080" y="23317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sparsity for scaling and disconnection tests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Implementation: Adjacency Matrix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 matrix storing travel times. Zero indicates no direct route. Synthetic dataset models a realistic city bus network.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Algorithm: BFS &amp; DFS Traversal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Breadth-First Search (BFS)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31520" y="1874520"/>
            <a:ext cx="339634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5C"/>
                </a:solidFill>
              </a:rPr>
              <a:t>Pseudocode: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BFS(graph, start):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mark start visited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enqueue start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queue not empty: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 = dequeue()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 curr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neighbor of curr: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not visited: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mark visited, enqueue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Time: O(V²) — adjacency matrix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Space: O(V) — queue + visited array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54880" y="123444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37160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9496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Depth-First Search (DFS)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043351" y="19659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5C"/>
                </a:solidFill>
              </a:rPr>
              <a:t>Pseudocode: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DFS(graph, visited, curr):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mark curr visited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 curr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neighbor of curr: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visited: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DFS(graph, visited, nbr)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Time: O(V²) — adjacency matrix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Space: O(V) — recursion stack + visited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Algorithm: Bellman-Ford (Shortest Path)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5029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Bellman-Ford Algorithm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18745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5C"/>
                </a:solidFill>
              </a:rPr>
              <a:t>Pseudocode: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BellmanFord(graph, source):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dist[all] = INF; dist[source] = 0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 V-1 times: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edge (u,v,w):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dist[u]+w &lt; dist[v]: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dist[v] = dist[u]+w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pred[v] = u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for negative cycles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</a:rPr>
              <a:t>Handles negative edge weights (unlike Dijkstra)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760720" y="1234440"/>
            <a:ext cx="3017520" cy="182880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94360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943600" y="17373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Time: O(V³)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B0D8DF"/>
                </a:solidFill>
              </a:rPr>
              <a:t>(V-1 relaxations × V² edge checks)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Space: O(V)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B0D8DF"/>
                </a:solidFill>
              </a:rPr>
              <a:t>(distance + predecessor arrays)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760720" y="3246120"/>
            <a:ext cx="3017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94360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/ Worst Case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943600" y="37033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8A"/>
                </a:solidFill>
              </a:rPr>
              <a:t>Best: O(V²)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Sparse graph, early convergence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7A8A"/>
                </a:solidFill>
              </a:rPr>
              <a:t>Worst: O(V³)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Dense graph, all edges relaxed each pass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Algorithm: Prim's MST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5029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Prim's Minimum Spanning Tree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18745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5C"/>
                </a:solidFill>
              </a:rPr>
              <a:t>Pseudocode: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MST(graph, start):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key[all] = INF; key[start] = 0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 V-1 times: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= vertex with min key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not yet in MST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u to MST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neighbor v of u: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w(u,v) &lt; key[v]: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key[v] = w(u,v)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</a:rPr>
              <a:t>Builds tree by always adding cheapest edge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760720" y="1234440"/>
            <a:ext cx="3017520" cy="182880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94360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943600" y="17373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Time: O(V²)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B0D8DF"/>
                </a:solidFill>
              </a:rPr>
              <a:t>(linear scan for min — no heap)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Space: O(V)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B0D8DF"/>
                </a:solidFill>
              </a:rPr>
              <a:t>(key + inMST arrays)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760720" y="3246120"/>
            <a:ext cx="3017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94360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/ Worst Case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943600" y="37033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8A"/>
                </a:solidFill>
              </a:rPr>
              <a:t>Best: O(V²)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Dense graph — matrix scan efficient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7A8A"/>
                </a:solidFill>
              </a:rPr>
              <a:t>Worst: O(V²)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Same — no shortcut for adj. matrix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Analysis Summary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2057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Bellman-Ford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Prim's MST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All complexities assume adjacency matrix representation. With adjacency lists, BFS/DFS would be O(V+E) and Prim's with a min-heap would be O(E log V).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Analysis &amp; Comparison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88720"/>
          <a:ext cx="82296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 is significantly slower due to its O(V³) complexity. BFS, DFS, and Prim's all perform comparably for this graph size. Sparse graphs execute marginally faster due to fewer meaningful edge relaxations.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&amp; Insights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Performer?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and DFS are fastest for traversal. For shortest paths, Bellman-Ford provides correctness at the cost of speed. Prim's MST efficiently finds minimum-cost spanning networks.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Each?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for level-order exploration and shortest unweighted paths. DFS for connectivity checks. Bellman-Ford when negative weights are possible. Prim's MST for network cost minimization.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06324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 wastes memory on sparse graphs. BFS/DFS don't consider edge weights. Bellman-Ford's cubic time is impractical for very large networks.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306324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3776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3776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density has minimal effect at V=16 but would diverge significantly at larger scales. Disconnected subgraphs cause MST and traversal to produce incomplete results.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A7A8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F4A261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0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demonstrated how graph algorithms solve real-world transit optimization challenges. BFS and DFS provide efficient traversal, Bellman-Ford finds shortest weighted paths, and Prim's MST identifies minimum-cost network structures. The choice of algorithm depends on the specific problem constraints — speed, weight handling, and graph structure.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974</Words>
  <Application>Microsoft Macintosh PowerPoint</Application>
  <PresentationFormat>On-screen Show (16:9)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Algorithms in Bus Network Optimization</dc:title>
  <dc:subject>PptxGenJS Presentation</dc:subject>
  <dc:creator>Team</dc:creator>
  <cp:lastModifiedBy>Rodrigo Molero Roca</cp:lastModifiedBy>
  <cp:revision>7</cp:revision>
  <dcterms:created xsi:type="dcterms:W3CDTF">2026-04-24T00:20:29Z</dcterms:created>
  <dcterms:modified xsi:type="dcterms:W3CDTF">2026-04-24T18:00:20Z</dcterms:modified>
</cp:coreProperties>
</file>